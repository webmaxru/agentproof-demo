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an illustrative supporting slide, not the first frame of the live video. The opening must show the actual unsafe PR and check. These are expected synthetic findings, not fresh scanner output. No universal provenance or certification claim.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records and enforced repository protections are the authority. Reviewer prose cannot make the gate more favorable. The three specialists and assembler are manual. A new head invalidates prior evidence and dispositions. Only demonstrate protected merge behavior after repository entitlement and the actual ruleset are verified.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safe for the limits segment. It is an explanation, not evidence that a canary ran in this repository. Show UNSAFE_TOOL_BOUNDARY and a disabled state only from an actual verified run. If unavailable, use the explicitly labeled fallback and say that runtime validation remains blocked. Do not call the result legally compliant, universally secure, or approved.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719"/>
        </a:solidFill>
        <a:effectLst/>
      </p:bgPr>
    </p:bg>
    <p:spTree>
      <p:nvGrpSpPr>
        <p:cNvPr id="1" name=""/>
        <p:cNvGrpSpPr/>
        <p:nvPr/>
      </p:nvGrpSpPr>
      <p:grpSpPr/>
      <p:sp>
        <p:nvSpPr>
          <p:cNvPr id="2" name="AGENTPROOF  /  THE TRUST GAP"/>
          <p:cNvSpPr txBox="1"/>
          <p:nvPr/>
        </p:nvSpPr>
        <p:spPr>
          <a:xfrm>
            <a:off x="594360" y="411480"/>
            <a:ext cx="10972800" cy="365760"/>
          </a:xfrm>
          <a:prstGeom prst="rect">
            <a:avLst/>
          </a:prstGeom>
          <a:noFill/>
        </p:spPr>
        <p:txBody>
          <a:bodyPr wrap="square" lIns="0" rIns="0" tIns="0" bIns="0">
            <a:spAutoFit/>
          </a:bodyPr>
          <a:lstStyle/>
          <a:p>
            <a:pPr>
              <a:spcAft>
                <a:spcPts val="600"/>
              </a:spcAft>
            </a:pPr>
            <a:r>
              <a:rPr sz="1600" b="1">
                <a:solidFill>
                  <a:srgbClr val="50DDAE"/>
                </a:solidFill>
                <a:latin typeface="Segoe UI"/>
              </a:rPr>
              <a:t>AGENTPROOF  /  THE TRUST GAP</a:t>
            </a:r>
          </a:p>
        </p:txBody>
      </p:sp>
      <p:sp>
        <p:nvSpPr>
          <p:cNvPr id="3" name="ILLUSTRATIVE / NOT LIVE EVIDENCE"/>
          <p:cNvSpPr txBox="1"/>
          <p:nvPr/>
        </p:nvSpPr>
        <p:spPr>
          <a:xfrm>
            <a:off x="594360" y="6355080"/>
            <a:ext cx="9875520" cy="320040"/>
          </a:xfrm>
          <a:prstGeom prst="rect">
            <a:avLst/>
          </a:prstGeom>
          <a:noFill/>
        </p:spPr>
        <p:txBody>
          <a:bodyPr wrap="square" lIns="0" rIns="0" tIns="0" bIns="0">
            <a:spAutoFit/>
          </a:bodyPr>
          <a:lstStyle/>
          <a:p>
            <a:pPr>
              <a:spcAft>
                <a:spcPts val="600"/>
              </a:spcAft>
            </a:pPr>
            <a:r>
              <a:rPr sz="1600" b="0">
                <a:solidFill>
                  <a:srgbClr val="B8C8C6"/>
                </a:solidFill>
                <a:latin typeface="Segoe UI"/>
              </a:rPr>
              <a:t>ILLUSTRATIVE / NOT LIVE EVIDENCE</a:t>
            </a:r>
          </a:p>
        </p:txBody>
      </p:sp>
      <p:sp>
        <p:nvSpPr>
          <p:cNvPr id="4" name="01"/>
          <p:cNvSpPr txBox="1"/>
          <p:nvPr/>
        </p:nvSpPr>
        <p:spPr>
          <a:xfrm>
            <a:off x="10972800" y="6355080"/>
            <a:ext cx="594360" cy="320040"/>
          </a:xfrm>
          <a:prstGeom prst="rect">
            <a:avLst/>
          </a:prstGeom>
          <a:noFill/>
        </p:spPr>
        <p:txBody>
          <a:bodyPr wrap="square" lIns="0" rIns="0" tIns="0" bIns="0">
            <a:spAutoFit/>
          </a:bodyPr>
          <a:lstStyle/>
          <a:p>
            <a:pPr>
              <a:spcAft>
                <a:spcPts val="600"/>
              </a:spcAft>
            </a:pPr>
            <a:r>
              <a:rPr sz="1600" b="1">
                <a:solidFill>
                  <a:srgbClr val="50DDAE"/>
                </a:solidFill>
                <a:latin typeface="Segoe UI"/>
              </a:rPr>
              <a:t>01</a:t>
            </a:r>
          </a:p>
        </p:txBody>
      </p:sp>
      <p:sp>
        <p:nvSpPr>
          <p:cNvPr id="5" name="Agents can build.&#10;People decide what ships."/>
          <p:cNvSpPr txBox="1"/>
          <p:nvPr/>
        </p:nvSpPr>
        <p:spPr>
          <a:xfrm>
            <a:off x="594360" y="960120"/>
            <a:ext cx="10972800" cy="1463040"/>
          </a:xfrm>
          <a:prstGeom prst="rect">
            <a:avLst/>
          </a:prstGeom>
          <a:noFill/>
        </p:spPr>
        <p:txBody>
          <a:bodyPr wrap="square" lIns="0" rIns="0" tIns="0" bIns="0">
            <a:spAutoFit/>
          </a:bodyPr>
          <a:lstStyle/>
          <a:p>
            <a:pPr>
              <a:spcAft>
                <a:spcPts val="600"/>
              </a:spcAft>
            </a:pPr>
            <a:r>
              <a:rPr sz="4200" b="1">
                <a:solidFill>
                  <a:srgbClr val="F5F7F5"/>
                </a:solidFill>
                <a:latin typeface="Segoe UI"/>
              </a:rPr>
              <a:t>Agents can build.</a:t>
            </a:r>
          </a:p>
          <a:p>
            <a:pPr>
              <a:spcAft>
                <a:spcPts val="600"/>
              </a:spcAft>
            </a:pPr>
            <a:r>
              <a:rPr sz="4200" b="1">
                <a:solidFill>
                  <a:srgbClr val="F5F7F5"/>
                </a:solidFill>
                <a:latin typeface="Segoe UI"/>
              </a:rPr>
              <a:t>People decide what ships.</a:t>
            </a:r>
          </a:p>
        </p:txBody>
      </p:sp>
      <p:sp>
        <p:nvSpPr>
          <p:cNvPr id="6" name="The question is whether this exact change ear"/>
          <p:cNvSpPr txBox="1"/>
          <p:nvPr/>
        </p:nvSpPr>
        <p:spPr>
          <a:xfrm>
            <a:off x="594360" y="2606040"/>
            <a:ext cx="10972800" cy="594360"/>
          </a:xfrm>
          <a:prstGeom prst="rect">
            <a:avLst/>
          </a:prstGeom>
          <a:noFill/>
        </p:spPr>
        <p:txBody>
          <a:bodyPr wrap="square" lIns="0" rIns="0" tIns="0" bIns="0">
            <a:spAutoFit/>
          </a:bodyPr>
          <a:lstStyle/>
          <a:p>
            <a:pPr>
              <a:spcAft>
                <a:spcPts val="600"/>
              </a:spcAft>
            </a:pPr>
            <a:r>
              <a:rPr sz="2400" b="0">
                <a:solidFill>
                  <a:srgbClr val="B8C8C6"/>
                </a:solidFill>
                <a:latin typeface="Segoe UI"/>
              </a:rPr>
              <a:t>The question is whether this exact change earned evidence.</a:t>
            </a:r>
          </a:p>
        </p:txBody>
      </p:sp>
      <p:sp>
        <p:nvSpPr>
          <p:cNvPr id="7" name="Rounded Rectangle 6"/>
          <p:cNvSpPr/>
          <p:nvPr/>
        </p:nvSpPr>
        <p:spPr>
          <a:xfrm>
            <a:off x="594360" y="3611880"/>
            <a:ext cx="3474720" cy="233172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L"/>
          <p:cNvSpPr txBox="1"/>
          <p:nvPr/>
        </p:nvSpPr>
        <p:spPr>
          <a:xfrm>
            <a:off x="795528" y="3840480"/>
            <a:ext cx="3063240" cy="320040"/>
          </a:xfrm>
          <a:prstGeom prst="rect">
            <a:avLst/>
          </a:prstGeom>
          <a:noFill/>
        </p:spPr>
        <p:txBody>
          <a:bodyPr wrap="square" lIns="0" rIns="0" tIns="0" bIns="0">
            <a:spAutoFit/>
          </a:bodyPr>
          <a:lstStyle/>
          <a:p>
            <a:pPr>
              <a:spcAft>
                <a:spcPts val="600"/>
              </a:spcAft>
            </a:pPr>
            <a:r>
              <a:rPr sz="1800" b="1">
                <a:solidFill>
                  <a:srgbClr val="FF7F85"/>
                </a:solidFill>
                <a:latin typeface="Segoe UI"/>
              </a:rPr>
              <a:t>FAIL</a:t>
            </a:r>
          </a:p>
        </p:txBody>
      </p:sp>
      <p:sp>
        <p:nvSpPr>
          <p:cNvPr id="9" name="Dependency evidence"/>
          <p:cNvSpPr txBox="1"/>
          <p:nvPr/>
        </p:nvSpPr>
        <p:spPr>
          <a:xfrm>
            <a:off x="795528" y="4343400"/>
            <a:ext cx="3063240" cy="502920"/>
          </a:xfrm>
          <a:prstGeom prst="rect">
            <a:avLst/>
          </a:prstGeom>
          <a:noFill/>
        </p:spPr>
        <p:txBody>
          <a:bodyPr wrap="square" lIns="0" rIns="0" tIns="0" bIns="0">
            <a:spAutoFit/>
          </a:bodyPr>
          <a:lstStyle/>
          <a:p>
            <a:pPr>
              <a:spcAft>
                <a:spcPts val="600"/>
              </a:spcAft>
            </a:pPr>
            <a:r>
              <a:rPr sz="2300" b="1">
                <a:solidFill>
                  <a:srgbClr val="F5F7F5"/>
                </a:solidFill>
                <a:latin typeface="Segoe UI"/>
              </a:rPr>
              <a:t>Dependency evidence</a:t>
            </a:r>
          </a:p>
        </p:txBody>
      </p:sp>
      <p:sp>
        <p:nvSpPr>
          <p:cNvPr id="10" name="Runtime dependency exceeds&#10;the protected seve"/>
          <p:cNvSpPr txBox="1"/>
          <p:nvPr/>
        </p:nvSpPr>
        <p:spPr>
          <a:xfrm>
            <a:off x="795528" y="4937760"/>
            <a:ext cx="3063240" cy="777240"/>
          </a:xfrm>
          <a:prstGeom prst="rect">
            <a:avLst/>
          </a:prstGeom>
          <a:noFill/>
        </p:spPr>
        <p:txBody>
          <a:bodyPr wrap="square" lIns="0" rIns="0" tIns="0" bIns="0">
            <a:spAutoFit/>
          </a:bodyPr>
          <a:lstStyle/>
          <a:p>
            <a:pPr>
              <a:spcAft>
                <a:spcPts val="600"/>
              </a:spcAft>
            </a:pPr>
            <a:r>
              <a:rPr sz="1600" b="0">
                <a:solidFill>
                  <a:srgbClr val="B8C8C6"/>
                </a:solidFill>
                <a:latin typeface="Segoe UI"/>
              </a:rPr>
              <a:t>Runtime dependency exceeds</a:t>
            </a:r>
          </a:p>
          <a:p>
            <a:pPr>
              <a:spcAft>
                <a:spcPts val="600"/>
              </a:spcAft>
            </a:pPr>
            <a:r>
              <a:rPr sz="1600" b="0">
                <a:solidFill>
                  <a:srgbClr val="B8C8C6"/>
                </a:solidFill>
                <a:latin typeface="Segoe UI"/>
              </a:rPr>
              <a:t>the protected severity limit.</a:t>
            </a:r>
          </a:p>
        </p:txBody>
      </p:sp>
      <p:sp>
        <p:nvSpPr>
          <p:cNvPr id="11" name="Rounded Rectangle 10"/>
          <p:cNvSpPr/>
          <p:nvPr/>
        </p:nvSpPr>
        <p:spPr>
          <a:xfrm>
            <a:off x="4343400" y="3611880"/>
            <a:ext cx="3474720" cy="233172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AIL"/>
          <p:cNvSpPr txBox="1"/>
          <p:nvPr/>
        </p:nvSpPr>
        <p:spPr>
          <a:xfrm>
            <a:off x="4544568" y="3840480"/>
            <a:ext cx="3063240" cy="320040"/>
          </a:xfrm>
          <a:prstGeom prst="rect">
            <a:avLst/>
          </a:prstGeom>
          <a:noFill/>
        </p:spPr>
        <p:txBody>
          <a:bodyPr wrap="square" lIns="0" rIns="0" tIns="0" bIns="0">
            <a:spAutoFit/>
          </a:bodyPr>
          <a:lstStyle/>
          <a:p>
            <a:pPr>
              <a:spcAft>
                <a:spcPts val="600"/>
              </a:spcAft>
            </a:pPr>
            <a:r>
              <a:rPr sz="1800" b="1">
                <a:solidFill>
                  <a:srgbClr val="FF7F85"/>
                </a:solidFill>
                <a:latin typeface="Segoe UI"/>
              </a:rPr>
              <a:t>FAIL</a:t>
            </a:r>
          </a:p>
        </p:txBody>
      </p:sp>
      <p:sp>
        <p:nvSpPr>
          <p:cNvPr id="13" name="Required behavior"/>
          <p:cNvSpPr txBox="1"/>
          <p:nvPr/>
        </p:nvSpPr>
        <p:spPr>
          <a:xfrm>
            <a:off x="4544568" y="4343400"/>
            <a:ext cx="3063240" cy="502920"/>
          </a:xfrm>
          <a:prstGeom prst="rect">
            <a:avLst/>
          </a:prstGeom>
          <a:noFill/>
        </p:spPr>
        <p:txBody>
          <a:bodyPr wrap="square" lIns="0" rIns="0" tIns="0" bIns="0">
            <a:spAutoFit/>
          </a:bodyPr>
          <a:lstStyle/>
          <a:p>
            <a:pPr>
              <a:spcAft>
                <a:spcPts val="600"/>
              </a:spcAft>
            </a:pPr>
            <a:r>
              <a:rPr sz="2300" b="1">
                <a:solidFill>
                  <a:srgbClr val="F5F7F5"/>
                </a:solidFill>
                <a:latin typeface="Segoe UI"/>
              </a:rPr>
              <a:t>Required behavior</a:t>
            </a:r>
          </a:p>
        </p:txBody>
      </p:sp>
      <p:sp>
        <p:nvSpPr>
          <p:cNvPr id="14" name="Required test ID is missing.&#10;A passing suite "/>
          <p:cNvSpPr txBox="1"/>
          <p:nvPr/>
        </p:nvSpPr>
        <p:spPr>
          <a:xfrm>
            <a:off x="4544568" y="4937760"/>
            <a:ext cx="3063240" cy="777240"/>
          </a:xfrm>
          <a:prstGeom prst="rect">
            <a:avLst/>
          </a:prstGeom>
          <a:noFill/>
        </p:spPr>
        <p:txBody>
          <a:bodyPr wrap="square" lIns="0" rIns="0" tIns="0" bIns="0">
            <a:spAutoFit/>
          </a:bodyPr>
          <a:lstStyle/>
          <a:p>
            <a:pPr>
              <a:spcAft>
                <a:spcPts val="600"/>
              </a:spcAft>
            </a:pPr>
            <a:r>
              <a:rPr sz="1600" b="0">
                <a:solidFill>
                  <a:srgbClr val="B8C8C6"/>
                </a:solidFill>
                <a:latin typeface="Segoe UI"/>
              </a:rPr>
              <a:t>Required test ID is missing.</a:t>
            </a:r>
          </a:p>
          <a:p>
            <a:pPr>
              <a:spcAft>
                <a:spcPts val="600"/>
              </a:spcAft>
            </a:pPr>
            <a:r>
              <a:rPr sz="1600" b="0">
                <a:solidFill>
                  <a:srgbClr val="B8C8C6"/>
                </a:solidFill>
                <a:latin typeface="Segoe UI"/>
              </a:rPr>
              <a:t>A passing suite is not enough.</a:t>
            </a:r>
          </a:p>
        </p:txBody>
      </p:sp>
      <p:sp>
        <p:nvSpPr>
          <p:cNvPr id="15" name="Rounded Rectangle 14"/>
          <p:cNvSpPr/>
          <p:nvPr/>
        </p:nvSpPr>
        <p:spPr>
          <a:xfrm>
            <a:off x="8092440" y="3611880"/>
            <a:ext cx="3474720" cy="233172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NKNOWN"/>
          <p:cNvSpPr txBox="1"/>
          <p:nvPr/>
        </p:nvSpPr>
        <p:spPr>
          <a:xfrm>
            <a:off x="8293608" y="3840480"/>
            <a:ext cx="3063240" cy="320040"/>
          </a:xfrm>
          <a:prstGeom prst="rect">
            <a:avLst/>
          </a:prstGeom>
          <a:noFill/>
        </p:spPr>
        <p:txBody>
          <a:bodyPr wrap="square" lIns="0" rIns="0" tIns="0" bIns="0">
            <a:spAutoFit/>
          </a:bodyPr>
          <a:lstStyle/>
          <a:p>
            <a:pPr>
              <a:spcAft>
                <a:spcPts val="600"/>
              </a:spcAft>
            </a:pPr>
            <a:r>
              <a:rPr sz="1800" b="1">
                <a:solidFill>
                  <a:srgbClr val="FFD166"/>
                </a:solidFill>
                <a:latin typeface="Segoe UI"/>
              </a:rPr>
              <a:t>UNKNOWN</a:t>
            </a:r>
          </a:p>
        </p:txBody>
      </p:sp>
      <p:sp>
        <p:nvSpPr>
          <p:cNvPr id="17" name="Retention declaration"/>
          <p:cNvSpPr txBox="1"/>
          <p:nvPr/>
        </p:nvSpPr>
        <p:spPr>
          <a:xfrm>
            <a:off x="8293608" y="4343400"/>
            <a:ext cx="3063240" cy="502920"/>
          </a:xfrm>
          <a:prstGeom prst="rect">
            <a:avLst/>
          </a:prstGeom>
          <a:noFill/>
        </p:spPr>
        <p:txBody>
          <a:bodyPr wrap="square" lIns="0" rIns="0" tIns="0" bIns="0">
            <a:spAutoFit/>
          </a:bodyPr>
          <a:lstStyle/>
          <a:p>
            <a:pPr>
              <a:spcAft>
                <a:spcPts val="600"/>
              </a:spcAft>
            </a:pPr>
            <a:r>
              <a:rPr sz="2300" b="1">
                <a:solidFill>
                  <a:srgbClr val="F5F7F5"/>
                </a:solidFill>
                <a:latin typeface="Segoe UI"/>
              </a:rPr>
              <a:t>Retention declaration</a:t>
            </a:r>
          </a:p>
        </p:txBody>
      </p:sp>
      <p:sp>
        <p:nvSpPr>
          <p:cNvPr id="18" name="A missing deletion fact is&#10;not a positive res"/>
          <p:cNvSpPr txBox="1"/>
          <p:nvPr/>
        </p:nvSpPr>
        <p:spPr>
          <a:xfrm>
            <a:off x="8293608" y="4937760"/>
            <a:ext cx="3063240" cy="777240"/>
          </a:xfrm>
          <a:prstGeom prst="rect">
            <a:avLst/>
          </a:prstGeom>
          <a:noFill/>
        </p:spPr>
        <p:txBody>
          <a:bodyPr wrap="square" lIns="0" rIns="0" tIns="0" bIns="0">
            <a:spAutoFit/>
          </a:bodyPr>
          <a:lstStyle/>
          <a:p>
            <a:pPr>
              <a:spcAft>
                <a:spcPts val="600"/>
              </a:spcAft>
            </a:pPr>
            <a:r>
              <a:rPr sz="1600" b="0">
                <a:solidFill>
                  <a:srgbClr val="B8C8C6"/>
                </a:solidFill>
                <a:latin typeface="Segoe UI"/>
              </a:rPr>
              <a:t>A missing deletion fact is</a:t>
            </a:r>
          </a:p>
          <a:p>
            <a:pPr>
              <a:spcAft>
                <a:spcPts val="600"/>
              </a:spcAft>
            </a:pPr>
            <a:r>
              <a:rPr sz="1600" b="0">
                <a:solidFill>
                  <a:srgbClr val="B8C8C6"/>
                </a:solidFill>
                <a:latin typeface="Segoe UI"/>
              </a:rPr>
              <a:t>not a positive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719"/>
        </a:solidFill>
        <a:effectLst/>
      </p:bgPr>
    </p:bg>
    <p:spTree>
      <p:nvGrpSpPr>
        <p:cNvPr id="1" name=""/>
        <p:cNvGrpSpPr/>
        <p:nvPr/>
      </p:nvGrpSpPr>
      <p:grpSpPr/>
      <p:sp>
        <p:nvSpPr>
          <p:cNvPr id="2" name="AGENTPROOF  /  THE CONTROL LOOP"/>
          <p:cNvSpPr txBox="1"/>
          <p:nvPr/>
        </p:nvSpPr>
        <p:spPr>
          <a:xfrm>
            <a:off x="594360" y="411480"/>
            <a:ext cx="10972800" cy="365760"/>
          </a:xfrm>
          <a:prstGeom prst="rect">
            <a:avLst/>
          </a:prstGeom>
          <a:noFill/>
        </p:spPr>
        <p:txBody>
          <a:bodyPr wrap="square" lIns="0" rIns="0" tIns="0" bIns="0">
            <a:spAutoFit/>
          </a:bodyPr>
          <a:lstStyle/>
          <a:p>
            <a:pPr>
              <a:spcAft>
                <a:spcPts val="600"/>
              </a:spcAft>
            </a:pPr>
            <a:r>
              <a:rPr sz="1600" b="1">
                <a:solidFill>
                  <a:srgbClr val="50DDAE"/>
                </a:solidFill>
                <a:latin typeface="Segoe UI"/>
              </a:rPr>
              <a:t>AGENTPROOF  /  THE CONTROL LOOP</a:t>
            </a:r>
          </a:p>
        </p:txBody>
      </p:sp>
      <p:sp>
        <p:nvSpPr>
          <p:cNvPr id="3" name="ILLUSTRATIVE / NOT LIVE EVIDENCE"/>
          <p:cNvSpPr txBox="1"/>
          <p:nvPr/>
        </p:nvSpPr>
        <p:spPr>
          <a:xfrm>
            <a:off x="594360" y="6355080"/>
            <a:ext cx="9875520" cy="320040"/>
          </a:xfrm>
          <a:prstGeom prst="rect">
            <a:avLst/>
          </a:prstGeom>
          <a:noFill/>
        </p:spPr>
        <p:txBody>
          <a:bodyPr wrap="square" lIns="0" rIns="0" tIns="0" bIns="0">
            <a:spAutoFit/>
          </a:bodyPr>
          <a:lstStyle/>
          <a:p>
            <a:pPr>
              <a:spcAft>
                <a:spcPts val="600"/>
              </a:spcAft>
            </a:pPr>
            <a:r>
              <a:rPr sz="1600" b="0">
                <a:solidFill>
                  <a:srgbClr val="B8C8C6"/>
                </a:solidFill>
                <a:latin typeface="Segoe UI"/>
              </a:rPr>
              <a:t>ILLUSTRATIVE / NOT LIVE EVIDENCE</a:t>
            </a:r>
          </a:p>
        </p:txBody>
      </p:sp>
      <p:sp>
        <p:nvSpPr>
          <p:cNvPr id="4" name="02"/>
          <p:cNvSpPr txBox="1"/>
          <p:nvPr/>
        </p:nvSpPr>
        <p:spPr>
          <a:xfrm>
            <a:off x="10972800" y="6355080"/>
            <a:ext cx="594360" cy="320040"/>
          </a:xfrm>
          <a:prstGeom prst="rect">
            <a:avLst/>
          </a:prstGeom>
          <a:noFill/>
        </p:spPr>
        <p:txBody>
          <a:bodyPr wrap="square" lIns="0" rIns="0" tIns="0" bIns="0">
            <a:spAutoFit/>
          </a:bodyPr>
          <a:lstStyle/>
          <a:p>
            <a:pPr>
              <a:spcAft>
                <a:spcPts val="600"/>
              </a:spcAft>
            </a:pPr>
            <a:r>
              <a:rPr sz="1600" b="1">
                <a:solidFill>
                  <a:srgbClr val="50DDAE"/>
                </a:solidFill>
                <a:latin typeface="Segoe UI"/>
              </a:rPr>
              <a:t>02</a:t>
            </a:r>
          </a:p>
        </p:txBody>
      </p:sp>
      <p:sp>
        <p:nvSpPr>
          <p:cNvPr id="5" name="Evidence follows the commit."/>
          <p:cNvSpPr txBox="1"/>
          <p:nvPr/>
        </p:nvSpPr>
        <p:spPr>
          <a:xfrm>
            <a:off x="594360" y="960120"/>
            <a:ext cx="10972800" cy="777240"/>
          </a:xfrm>
          <a:prstGeom prst="rect">
            <a:avLst/>
          </a:prstGeom>
          <a:noFill/>
        </p:spPr>
        <p:txBody>
          <a:bodyPr wrap="square" lIns="0" rIns="0" tIns="0" bIns="0">
            <a:spAutoFit/>
          </a:bodyPr>
          <a:lstStyle/>
          <a:p>
            <a:pPr>
              <a:spcAft>
                <a:spcPts val="600"/>
              </a:spcAft>
            </a:pPr>
            <a:r>
              <a:rPr sz="4200" b="1">
                <a:solidFill>
                  <a:srgbClr val="F5F7F5"/>
                </a:solidFill>
                <a:latin typeface="Segoe UI"/>
              </a:rPr>
              <a:t>Evidence follows the commit.</a:t>
            </a:r>
          </a:p>
        </p:txBody>
      </p:sp>
      <p:sp>
        <p:nvSpPr>
          <p:cNvPr id="6" name="Rounded Rectangle 5"/>
          <p:cNvSpPr/>
          <p:nvPr/>
        </p:nvSpPr>
        <p:spPr>
          <a:xfrm>
            <a:off x="594360" y="2057400"/>
            <a:ext cx="3200400" cy="150876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1  COLLECT"/>
          <p:cNvSpPr txBox="1"/>
          <p:nvPr/>
        </p:nvSpPr>
        <p:spPr>
          <a:xfrm>
            <a:off x="795528" y="2267712"/>
            <a:ext cx="2816352" cy="365760"/>
          </a:xfrm>
          <a:prstGeom prst="rect">
            <a:avLst/>
          </a:prstGeom>
          <a:noFill/>
        </p:spPr>
        <p:txBody>
          <a:bodyPr wrap="square" lIns="0" rIns="0" tIns="0" bIns="0">
            <a:spAutoFit/>
          </a:bodyPr>
          <a:lstStyle/>
          <a:p>
            <a:pPr>
              <a:spcAft>
                <a:spcPts val="600"/>
              </a:spcAft>
            </a:pPr>
            <a:r>
              <a:rPr sz="2100" b="1">
                <a:solidFill>
                  <a:srgbClr val="50DDAE"/>
                </a:solidFill>
                <a:latin typeface="Segoe UI"/>
              </a:rPr>
              <a:t>1  COLLECT</a:t>
            </a:r>
          </a:p>
        </p:txBody>
      </p:sp>
      <p:sp>
        <p:nvSpPr>
          <p:cNvPr id="8" name="Exact PR head SHA&#10;No secrets; read-only"/>
          <p:cNvSpPr txBox="1"/>
          <p:nvPr/>
        </p:nvSpPr>
        <p:spPr>
          <a:xfrm>
            <a:off x="795528" y="2816352"/>
            <a:ext cx="2816352" cy="640080"/>
          </a:xfrm>
          <a:prstGeom prst="rect">
            <a:avLst/>
          </a:prstGeom>
          <a:noFill/>
        </p:spPr>
        <p:txBody>
          <a:bodyPr wrap="square" lIns="0" rIns="0" tIns="0" bIns="0">
            <a:spAutoFit/>
          </a:bodyPr>
          <a:lstStyle/>
          <a:p>
            <a:pPr>
              <a:spcAft>
                <a:spcPts val="600"/>
              </a:spcAft>
            </a:pPr>
            <a:r>
              <a:rPr sz="1700" b="0">
                <a:solidFill>
                  <a:srgbClr val="F5F7F5"/>
                </a:solidFill>
                <a:latin typeface="Segoe UI"/>
              </a:rPr>
              <a:t>Exact PR head SHA</a:t>
            </a:r>
          </a:p>
          <a:p>
            <a:pPr>
              <a:spcAft>
                <a:spcPts val="600"/>
              </a:spcAft>
            </a:pPr>
            <a:r>
              <a:rPr sz="1700" b="0">
                <a:solidFill>
                  <a:srgbClr val="F5F7F5"/>
                </a:solidFill>
                <a:latin typeface="Segoe UI"/>
              </a:rPr>
              <a:t>No secrets; read-only</a:t>
            </a:r>
          </a:p>
        </p:txBody>
      </p:sp>
      <p:sp>
        <p:nvSpPr>
          <p:cNvPr id="9" name="Rounded Rectangle 8"/>
          <p:cNvSpPr/>
          <p:nvPr/>
        </p:nvSpPr>
        <p:spPr>
          <a:xfrm>
            <a:off x="4480560" y="2057400"/>
            <a:ext cx="3200400" cy="150876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EVALUATE"/>
          <p:cNvSpPr txBox="1"/>
          <p:nvPr/>
        </p:nvSpPr>
        <p:spPr>
          <a:xfrm>
            <a:off x="4681728" y="2267712"/>
            <a:ext cx="2816352" cy="365760"/>
          </a:xfrm>
          <a:prstGeom prst="rect">
            <a:avLst/>
          </a:prstGeom>
          <a:noFill/>
        </p:spPr>
        <p:txBody>
          <a:bodyPr wrap="square" lIns="0" rIns="0" tIns="0" bIns="0">
            <a:spAutoFit/>
          </a:bodyPr>
          <a:lstStyle/>
          <a:p>
            <a:pPr>
              <a:spcAft>
                <a:spcPts val="600"/>
              </a:spcAft>
            </a:pPr>
            <a:r>
              <a:rPr sz="2100" b="1">
                <a:solidFill>
                  <a:srgbClr val="50DDAE"/>
                </a:solidFill>
                <a:latin typeface="Segoe UI"/>
              </a:rPr>
              <a:t>2  EVALUATE</a:t>
            </a:r>
          </a:p>
        </p:txBody>
      </p:sp>
      <p:sp>
        <p:nvSpPr>
          <p:cNvPr id="11" name="Protected-base policy&#10;Deterministic gate"/>
          <p:cNvSpPr txBox="1"/>
          <p:nvPr/>
        </p:nvSpPr>
        <p:spPr>
          <a:xfrm>
            <a:off x="4681728" y="2816352"/>
            <a:ext cx="2816352" cy="640080"/>
          </a:xfrm>
          <a:prstGeom prst="rect">
            <a:avLst/>
          </a:prstGeom>
          <a:noFill/>
        </p:spPr>
        <p:txBody>
          <a:bodyPr wrap="square" lIns="0" rIns="0" tIns="0" bIns="0">
            <a:spAutoFit/>
          </a:bodyPr>
          <a:lstStyle/>
          <a:p>
            <a:pPr>
              <a:spcAft>
                <a:spcPts val="600"/>
              </a:spcAft>
            </a:pPr>
            <a:r>
              <a:rPr sz="1700" b="0">
                <a:solidFill>
                  <a:srgbClr val="F5F7F5"/>
                </a:solidFill>
                <a:latin typeface="Segoe UI"/>
              </a:rPr>
              <a:t>Protected-base policy</a:t>
            </a:r>
          </a:p>
          <a:p>
            <a:pPr>
              <a:spcAft>
                <a:spcPts val="600"/>
              </a:spcAft>
            </a:pPr>
            <a:r>
              <a:rPr sz="1700" b="0">
                <a:solidFill>
                  <a:srgbClr val="F5F7F5"/>
                </a:solidFill>
                <a:latin typeface="Segoe UI"/>
              </a:rPr>
              <a:t>Deterministic gate</a:t>
            </a:r>
          </a:p>
        </p:txBody>
      </p:sp>
      <p:sp>
        <p:nvSpPr>
          <p:cNvPr id="12" name="Rounded Rectangle 11"/>
          <p:cNvSpPr/>
          <p:nvPr/>
        </p:nvSpPr>
        <p:spPr>
          <a:xfrm>
            <a:off x="8366760" y="2057400"/>
            <a:ext cx="3200400" cy="150876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3  PUBLISH"/>
          <p:cNvSpPr txBox="1"/>
          <p:nvPr/>
        </p:nvSpPr>
        <p:spPr>
          <a:xfrm>
            <a:off x="8567928" y="2267712"/>
            <a:ext cx="2816352" cy="365760"/>
          </a:xfrm>
          <a:prstGeom prst="rect">
            <a:avLst/>
          </a:prstGeom>
          <a:noFill/>
        </p:spPr>
        <p:txBody>
          <a:bodyPr wrap="square" lIns="0" rIns="0" tIns="0" bIns="0">
            <a:spAutoFit/>
          </a:bodyPr>
          <a:lstStyle/>
          <a:p>
            <a:pPr>
              <a:spcAft>
                <a:spcPts val="600"/>
              </a:spcAft>
            </a:pPr>
            <a:r>
              <a:rPr sz="2100" b="1">
                <a:solidFill>
                  <a:srgbClr val="50DDAE"/>
                </a:solidFill>
                <a:latin typeface="Segoe UI"/>
              </a:rPr>
              <a:t>3  PUBLISH</a:t>
            </a:r>
          </a:p>
        </p:txBody>
      </p:sp>
      <p:sp>
        <p:nvSpPr>
          <p:cNvPr id="14" name="GitHub check + artifact&#10;Current-SHA summary"/>
          <p:cNvSpPr txBox="1"/>
          <p:nvPr/>
        </p:nvSpPr>
        <p:spPr>
          <a:xfrm>
            <a:off x="8567928" y="2816352"/>
            <a:ext cx="2816352" cy="640080"/>
          </a:xfrm>
          <a:prstGeom prst="rect">
            <a:avLst/>
          </a:prstGeom>
          <a:noFill/>
        </p:spPr>
        <p:txBody>
          <a:bodyPr wrap="square" lIns="0" rIns="0" tIns="0" bIns="0">
            <a:spAutoFit/>
          </a:bodyPr>
          <a:lstStyle/>
          <a:p>
            <a:pPr>
              <a:spcAft>
                <a:spcPts val="600"/>
              </a:spcAft>
            </a:pPr>
            <a:r>
              <a:rPr sz="1700" b="0">
                <a:solidFill>
                  <a:srgbClr val="F5F7F5"/>
                </a:solidFill>
                <a:latin typeface="Segoe UI"/>
              </a:rPr>
              <a:t>GitHub check + artifact</a:t>
            </a:r>
          </a:p>
          <a:p>
            <a:pPr>
              <a:spcAft>
                <a:spcPts val="600"/>
              </a:spcAft>
            </a:pPr>
            <a:r>
              <a:rPr sz="1700" b="0">
                <a:solidFill>
                  <a:srgbClr val="F5F7F5"/>
                </a:solidFill>
                <a:latin typeface="Segoe UI"/>
              </a:rPr>
              <a:t>Current-SHA summary</a:t>
            </a:r>
          </a:p>
        </p:txBody>
      </p:sp>
      <p:sp>
        <p:nvSpPr>
          <p:cNvPr id="15" name="&gt;"/>
          <p:cNvSpPr txBox="1"/>
          <p:nvPr/>
        </p:nvSpPr>
        <p:spPr>
          <a:xfrm>
            <a:off x="3968496" y="2633472"/>
            <a:ext cx="347472" cy="457200"/>
          </a:xfrm>
          <a:prstGeom prst="rect">
            <a:avLst/>
          </a:prstGeom>
          <a:noFill/>
        </p:spPr>
        <p:txBody>
          <a:bodyPr wrap="square" lIns="0" rIns="0" tIns="0" bIns="0">
            <a:spAutoFit/>
          </a:bodyPr>
          <a:lstStyle/>
          <a:p>
            <a:pPr>
              <a:spcAft>
                <a:spcPts val="600"/>
              </a:spcAft>
            </a:pPr>
            <a:r>
              <a:rPr sz="2800" b="1">
                <a:solidFill>
                  <a:srgbClr val="50DDAE"/>
                </a:solidFill>
                <a:latin typeface="Segoe UI"/>
              </a:rPr>
              <a:t>&gt;</a:t>
            </a:r>
          </a:p>
        </p:txBody>
      </p:sp>
      <p:sp>
        <p:nvSpPr>
          <p:cNvPr id="16" name="&gt;"/>
          <p:cNvSpPr txBox="1"/>
          <p:nvPr/>
        </p:nvSpPr>
        <p:spPr>
          <a:xfrm>
            <a:off x="7854696" y="2633472"/>
            <a:ext cx="347472" cy="457200"/>
          </a:xfrm>
          <a:prstGeom prst="rect">
            <a:avLst/>
          </a:prstGeom>
          <a:noFill/>
        </p:spPr>
        <p:txBody>
          <a:bodyPr wrap="square" lIns="0" rIns="0" tIns="0" bIns="0">
            <a:spAutoFit/>
          </a:bodyPr>
          <a:lstStyle/>
          <a:p>
            <a:pPr>
              <a:spcAft>
                <a:spcPts val="600"/>
              </a:spcAft>
            </a:pPr>
            <a:r>
              <a:rPr sz="2800" b="1">
                <a:solidFill>
                  <a:srgbClr val="50DDAE"/>
                </a:solidFill>
                <a:latin typeface="Segoe UI"/>
              </a:rPr>
              <a:t>&gt;</a:t>
            </a:r>
          </a:p>
        </p:txBody>
      </p:sp>
      <p:sp>
        <p:nvSpPr>
          <p:cNvPr id="17" name="Rounded Rectangle 16"/>
          <p:cNvSpPr/>
          <p:nvPr/>
        </p:nvSpPr>
        <p:spPr>
          <a:xfrm>
            <a:off x="594360" y="4023360"/>
            <a:ext cx="6812280" cy="132588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ANUAL, READ-ONLY SPECIALISTS"/>
          <p:cNvSpPr txBox="1"/>
          <p:nvPr/>
        </p:nvSpPr>
        <p:spPr>
          <a:xfrm>
            <a:off x="822960" y="4206240"/>
            <a:ext cx="6355080" cy="320040"/>
          </a:xfrm>
          <a:prstGeom prst="rect">
            <a:avLst/>
          </a:prstGeom>
          <a:noFill/>
        </p:spPr>
        <p:txBody>
          <a:bodyPr wrap="square" lIns="0" rIns="0" tIns="0" bIns="0">
            <a:spAutoFit/>
          </a:bodyPr>
          <a:lstStyle/>
          <a:p>
            <a:pPr>
              <a:spcAft>
                <a:spcPts val="600"/>
              </a:spcAft>
            </a:pPr>
            <a:r>
              <a:rPr sz="1900" b="1">
                <a:solidFill>
                  <a:srgbClr val="BC9CFF"/>
                </a:solidFill>
                <a:latin typeface="Segoe UI"/>
              </a:rPr>
              <a:t>MANUAL, READ-ONLY SPECIALISTS</a:t>
            </a:r>
          </a:p>
        </p:txBody>
      </p:sp>
      <p:sp>
        <p:nvSpPr>
          <p:cNvPr id="19" name="Test  |  Security  |  Policy  -&gt;  Mutable Evi"/>
          <p:cNvSpPr txBox="1"/>
          <p:nvPr/>
        </p:nvSpPr>
        <p:spPr>
          <a:xfrm>
            <a:off x="822960" y="4754880"/>
            <a:ext cx="6355080" cy="320040"/>
          </a:xfrm>
          <a:prstGeom prst="rect">
            <a:avLst/>
          </a:prstGeom>
          <a:noFill/>
        </p:spPr>
        <p:txBody>
          <a:bodyPr wrap="square" lIns="0" rIns="0" tIns="0" bIns="0">
            <a:spAutoFit/>
          </a:bodyPr>
          <a:lstStyle/>
          <a:p>
            <a:pPr>
              <a:spcAft>
                <a:spcPts val="600"/>
              </a:spcAft>
            </a:pPr>
            <a:r>
              <a:rPr sz="1700" b="0">
                <a:solidFill>
                  <a:srgbClr val="F5F7F5"/>
                </a:solidFill>
                <a:latin typeface="Segoe UI"/>
              </a:rPr>
              <a:t>Test  |  Security  |  Policy  -&gt;  Mutable Evidence Board</a:t>
            </a:r>
          </a:p>
        </p:txBody>
      </p:sp>
      <p:sp>
        <p:nvSpPr>
          <p:cNvPr id="20" name="&gt;"/>
          <p:cNvSpPr txBox="1"/>
          <p:nvPr/>
        </p:nvSpPr>
        <p:spPr>
          <a:xfrm>
            <a:off x="7479792" y="4507992"/>
            <a:ext cx="274320" cy="457200"/>
          </a:xfrm>
          <a:prstGeom prst="rect">
            <a:avLst/>
          </a:prstGeom>
          <a:noFill/>
        </p:spPr>
        <p:txBody>
          <a:bodyPr wrap="square" lIns="0" rIns="0" tIns="0" bIns="0">
            <a:spAutoFit/>
          </a:bodyPr>
          <a:lstStyle/>
          <a:p>
            <a:pPr>
              <a:spcAft>
                <a:spcPts val="600"/>
              </a:spcAft>
            </a:pPr>
            <a:r>
              <a:rPr sz="2400" b="1">
                <a:solidFill>
                  <a:srgbClr val="50DDAE"/>
                </a:solidFill>
                <a:latin typeface="Segoe UI"/>
              </a:rPr>
              <a:t>&gt;</a:t>
            </a:r>
          </a:p>
        </p:txBody>
      </p:sp>
      <p:sp>
        <p:nvSpPr>
          <p:cNvPr id="21" name="Rounded Rectangle 20"/>
          <p:cNvSpPr/>
          <p:nvPr/>
        </p:nvSpPr>
        <p:spPr>
          <a:xfrm>
            <a:off x="7772400" y="4023360"/>
            <a:ext cx="3794760" cy="132588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UMAN DECISIONS"/>
          <p:cNvSpPr txBox="1"/>
          <p:nvPr/>
        </p:nvSpPr>
        <p:spPr>
          <a:xfrm>
            <a:off x="8001000" y="4206240"/>
            <a:ext cx="3337560" cy="320040"/>
          </a:xfrm>
          <a:prstGeom prst="rect">
            <a:avLst/>
          </a:prstGeom>
          <a:noFill/>
        </p:spPr>
        <p:txBody>
          <a:bodyPr wrap="square" lIns="0" rIns="0" tIns="0" bIns="0">
            <a:spAutoFit/>
          </a:bodyPr>
          <a:lstStyle/>
          <a:p>
            <a:pPr>
              <a:spcAft>
                <a:spcPts val="600"/>
              </a:spcAft>
            </a:pPr>
            <a:r>
              <a:rPr sz="1900" b="1">
                <a:solidFill>
                  <a:srgbClr val="FFD166"/>
                </a:solidFill>
                <a:latin typeface="Segoe UI"/>
              </a:rPr>
              <a:t>HUMAN DECISIONS</a:t>
            </a:r>
          </a:p>
        </p:txBody>
      </p:sp>
      <p:sp>
        <p:nvSpPr>
          <p:cNvPr id="23" name="Eligible exception&#10;Independent code review"/>
          <p:cNvSpPr txBox="1"/>
          <p:nvPr/>
        </p:nvSpPr>
        <p:spPr>
          <a:xfrm>
            <a:off x="8001000" y="4690872"/>
            <a:ext cx="3337560" cy="594360"/>
          </a:xfrm>
          <a:prstGeom prst="rect">
            <a:avLst/>
          </a:prstGeom>
          <a:noFill/>
        </p:spPr>
        <p:txBody>
          <a:bodyPr wrap="square" lIns="0" rIns="0" tIns="0" bIns="0">
            <a:spAutoFit/>
          </a:bodyPr>
          <a:lstStyle/>
          <a:p>
            <a:pPr>
              <a:spcAft>
                <a:spcPts val="600"/>
              </a:spcAft>
            </a:pPr>
            <a:r>
              <a:rPr sz="1700" b="0">
                <a:solidFill>
                  <a:srgbClr val="F5F7F5"/>
                </a:solidFill>
                <a:latin typeface="Segoe UI"/>
              </a:rPr>
              <a:t>Eligible exception</a:t>
            </a:r>
          </a:p>
          <a:p>
            <a:pPr>
              <a:spcAft>
                <a:spcPts val="600"/>
              </a:spcAft>
            </a:pPr>
            <a:r>
              <a:rPr sz="1700" b="0">
                <a:solidFill>
                  <a:srgbClr val="F5F7F5"/>
                </a:solidFill>
                <a:latin typeface="Segoe UI"/>
              </a:rPr>
              <a:t>Independent code review</a:t>
            </a:r>
          </a:p>
        </p:txBody>
      </p:sp>
      <p:sp>
        <p:nvSpPr>
          <p:cNvPr id="24" name="NEW COMMIT  -&gt;  OLD EVIDENCE AND DECISIONS AR"/>
          <p:cNvSpPr txBox="1"/>
          <p:nvPr/>
        </p:nvSpPr>
        <p:spPr>
          <a:xfrm>
            <a:off x="594360" y="5715000"/>
            <a:ext cx="10972800" cy="411480"/>
          </a:xfrm>
          <a:prstGeom prst="rect">
            <a:avLst/>
          </a:prstGeom>
          <a:noFill/>
        </p:spPr>
        <p:txBody>
          <a:bodyPr wrap="square" lIns="0" rIns="0" tIns="0" bIns="0">
            <a:spAutoFit/>
          </a:bodyPr>
          <a:lstStyle/>
          <a:p>
            <a:pPr>
              <a:spcAft>
                <a:spcPts val="600"/>
              </a:spcAft>
            </a:pPr>
            <a:r>
              <a:rPr sz="2200" b="1">
                <a:solidFill>
                  <a:srgbClr val="50DDAE"/>
                </a:solidFill>
                <a:latin typeface="Segoe UI"/>
              </a:rPr>
              <a:t>NEW COMMIT  -&gt;  OLD EVIDENCE AND DECISIONS ARE STALE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719"/>
        </a:solidFill>
        <a:effectLst/>
      </p:bgPr>
    </p:bg>
    <p:spTree>
      <p:nvGrpSpPr>
        <p:cNvPr id="1" name=""/>
        <p:cNvGrpSpPr/>
        <p:nvPr/>
      </p:nvGrpSpPr>
      <p:grpSpPr/>
      <p:sp>
        <p:nvSpPr>
          <p:cNvPr id="2" name="AGENTPROOF  /  HONEST BOUNDARIES"/>
          <p:cNvSpPr txBox="1"/>
          <p:nvPr/>
        </p:nvSpPr>
        <p:spPr>
          <a:xfrm>
            <a:off x="594360" y="411480"/>
            <a:ext cx="10972800" cy="365760"/>
          </a:xfrm>
          <a:prstGeom prst="rect">
            <a:avLst/>
          </a:prstGeom>
          <a:noFill/>
        </p:spPr>
        <p:txBody>
          <a:bodyPr wrap="square" lIns="0" rIns="0" tIns="0" bIns="0">
            <a:spAutoFit/>
          </a:bodyPr>
          <a:lstStyle/>
          <a:p>
            <a:pPr>
              <a:spcAft>
                <a:spcPts val="600"/>
              </a:spcAft>
            </a:pPr>
            <a:r>
              <a:rPr sz="1600" b="1">
                <a:solidFill>
                  <a:srgbClr val="50DDAE"/>
                </a:solidFill>
                <a:latin typeface="Segoe UI"/>
              </a:rPr>
              <a:t>AGENTPROOF  /  HONEST BOUNDARIES</a:t>
            </a:r>
          </a:p>
        </p:txBody>
      </p:sp>
      <p:sp>
        <p:nvSpPr>
          <p:cNvPr id="3" name="ILLUSTRATIVE / NOT LIVE EVIDENCE"/>
          <p:cNvSpPr txBox="1"/>
          <p:nvPr/>
        </p:nvSpPr>
        <p:spPr>
          <a:xfrm>
            <a:off x="594360" y="6355080"/>
            <a:ext cx="9875520" cy="320040"/>
          </a:xfrm>
          <a:prstGeom prst="rect">
            <a:avLst/>
          </a:prstGeom>
          <a:noFill/>
        </p:spPr>
        <p:txBody>
          <a:bodyPr wrap="square" lIns="0" rIns="0" tIns="0" bIns="0">
            <a:spAutoFit/>
          </a:bodyPr>
          <a:lstStyle/>
          <a:p>
            <a:pPr>
              <a:spcAft>
                <a:spcPts val="600"/>
              </a:spcAft>
            </a:pPr>
            <a:r>
              <a:rPr sz="1600" b="0">
                <a:solidFill>
                  <a:srgbClr val="B8C8C6"/>
                </a:solidFill>
                <a:latin typeface="Segoe UI"/>
              </a:rPr>
              <a:t>ILLUSTRATIVE / NOT LIVE EVIDENCE</a:t>
            </a:r>
          </a:p>
        </p:txBody>
      </p:sp>
      <p:sp>
        <p:nvSpPr>
          <p:cNvPr id="4" name="03"/>
          <p:cNvSpPr txBox="1"/>
          <p:nvPr/>
        </p:nvSpPr>
        <p:spPr>
          <a:xfrm>
            <a:off x="10972800" y="6355080"/>
            <a:ext cx="594360" cy="320040"/>
          </a:xfrm>
          <a:prstGeom prst="rect">
            <a:avLst/>
          </a:prstGeom>
          <a:noFill/>
        </p:spPr>
        <p:txBody>
          <a:bodyPr wrap="square" lIns="0" rIns="0" tIns="0" bIns="0">
            <a:spAutoFit/>
          </a:bodyPr>
          <a:lstStyle/>
          <a:p>
            <a:pPr>
              <a:spcAft>
                <a:spcPts val="600"/>
              </a:spcAft>
            </a:pPr>
            <a:r>
              <a:rPr sz="1600" b="1">
                <a:solidFill>
                  <a:srgbClr val="50DDAE"/>
                </a:solidFill>
                <a:latin typeface="Segoe UI"/>
              </a:rPr>
              <a:t>03</a:t>
            </a:r>
          </a:p>
        </p:txBody>
      </p:sp>
      <p:sp>
        <p:nvSpPr>
          <p:cNvPr id="5" name="Bounded evidence.&#10;Accountable decisions."/>
          <p:cNvSpPr txBox="1"/>
          <p:nvPr/>
        </p:nvSpPr>
        <p:spPr>
          <a:xfrm>
            <a:off x="594360" y="960120"/>
            <a:ext cx="7772400" cy="1508760"/>
          </a:xfrm>
          <a:prstGeom prst="rect">
            <a:avLst/>
          </a:prstGeom>
          <a:noFill/>
        </p:spPr>
        <p:txBody>
          <a:bodyPr wrap="square" lIns="0" rIns="0" tIns="0" bIns="0">
            <a:spAutoFit/>
          </a:bodyPr>
          <a:lstStyle/>
          <a:p>
            <a:pPr>
              <a:spcAft>
                <a:spcPts val="600"/>
              </a:spcAft>
            </a:pPr>
            <a:r>
              <a:rPr sz="4200" b="1">
                <a:solidFill>
                  <a:srgbClr val="F5F7F5"/>
                </a:solidFill>
                <a:latin typeface="Segoe UI"/>
              </a:rPr>
              <a:t>Bounded evidence.</a:t>
            </a:r>
          </a:p>
          <a:p>
            <a:pPr>
              <a:spcAft>
                <a:spcPts val="600"/>
              </a:spcAft>
            </a:pPr>
            <a:r>
              <a:rPr sz="4200" b="1">
                <a:solidFill>
                  <a:srgbClr val="F5F7F5"/>
                </a:solidFill>
                <a:latin typeface="Segoe UI"/>
              </a:rPr>
              <a:t>Accountable decisions.</a:t>
            </a:r>
          </a:p>
        </p:txBody>
      </p:sp>
      <p:sp>
        <p:nvSpPr>
          <p:cNvPr id="6" name="01"/>
          <p:cNvSpPr txBox="1"/>
          <p:nvPr/>
        </p:nvSpPr>
        <p:spPr>
          <a:xfrm>
            <a:off x="594360" y="2880360"/>
            <a:ext cx="548640" cy="411480"/>
          </a:xfrm>
          <a:prstGeom prst="rect">
            <a:avLst/>
          </a:prstGeom>
          <a:noFill/>
        </p:spPr>
        <p:txBody>
          <a:bodyPr wrap="square" lIns="0" rIns="0" tIns="0" bIns="0">
            <a:spAutoFit/>
          </a:bodyPr>
          <a:lstStyle/>
          <a:p>
            <a:pPr>
              <a:spcAft>
                <a:spcPts val="600"/>
              </a:spcAft>
            </a:pPr>
            <a:r>
              <a:rPr sz="2400" b="1">
                <a:solidFill>
                  <a:srgbClr val="50DDAE"/>
                </a:solidFill>
                <a:latin typeface="Segoe UI"/>
              </a:rPr>
              <a:t>01</a:t>
            </a:r>
          </a:p>
        </p:txBody>
      </p:sp>
      <p:sp>
        <p:nvSpPr>
          <p:cNvPr id="7" name="No universal provenance"/>
          <p:cNvSpPr txBox="1"/>
          <p:nvPr/>
        </p:nvSpPr>
        <p:spPr>
          <a:xfrm>
            <a:off x="1325880" y="2880360"/>
            <a:ext cx="5943600" cy="411480"/>
          </a:xfrm>
          <a:prstGeom prst="rect">
            <a:avLst/>
          </a:prstGeom>
          <a:noFill/>
        </p:spPr>
        <p:txBody>
          <a:bodyPr wrap="square" lIns="0" rIns="0" tIns="0" bIns="0">
            <a:spAutoFit/>
          </a:bodyPr>
          <a:lstStyle/>
          <a:p>
            <a:pPr>
              <a:spcAft>
                <a:spcPts val="600"/>
              </a:spcAft>
            </a:pPr>
            <a:r>
              <a:rPr sz="2400" b="1">
                <a:solidFill>
                  <a:srgbClr val="F5F7F5"/>
                </a:solidFill>
                <a:latin typeface="Segoe UI"/>
              </a:rPr>
              <a:t>No universal provenance</a:t>
            </a:r>
          </a:p>
        </p:txBody>
      </p:sp>
      <p:sp>
        <p:nvSpPr>
          <p:cNvPr id="8" name="Origin can be self-declared or unknown."/>
          <p:cNvSpPr txBox="1"/>
          <p:nvPr/>
        </p:nvSpPr>
        <p:spPr>
          <a:xfrm>
            <a:off x="1325880" y="3319272"/>
            <a:ext cx="6035040" cy="457200"/>
          </a:xfrm>
          <a:prstGeom prst="rect">
            <a:avLst/>
          </a:prstGeom>
          <a:noFill/>
        </p:spPr>
        <p:txBody>
          <a:bodyPr wrap="square" lIns="0" rIns="0" tIns="0" bIns="0">
            <a:spAutoFit/>
          </a:bodyPr>
          <a:lstStyle/>
          <a:p>
            <a:pPr>
              <a:spcAft>
                <a:spcPts val="600"/>
              </a:spcAft>
            </a:pPr>
            <a:r>
              <a:rPr sz="1600" b="0">
                <a:solidFill>
                  <a:srgbClr val="B8C8C6"/>
                </a:solidFill>
                <a:latin typeface="Segoe UI"/>
              </a:rPr>
              <a:t>Origin can be self-declared or unknown.</a:t>
            </a:r>
          </a:p>
        </p:txBody>
      </p:sp>
      <p:sp>
        <p:nvSpPr>
          <p:cNvPr id="9" name="02"/>
          <p:cNvSpPr txBox="1"/>
          <p:nvPr/>
        </p:nvSpPr>
        <p:spPr>
          <a:xfrm>
            <a:off x="594360" y="3822191"/>
            <a:ext cx="548640" cy="411480"/>
          </a:xfrm>
          <a:prstGeom prst="rect">
            <a:avLst/>
          </a:prstGeom>
          <a:noFill/>
        </p:spPr>
        <p:txBody>
          <a:bodyPr wrap="square" lIns="0" rIns="0" tIns="0" bIns="0">
            <a:spAutoFit/>
          </a:bodyPr>
          <a:lstStyle/>
          <a:p>
            <a:pPr>
              <a:spcAft>
                <a:spcPts val="600"/>
              </a:spcAft>
            </a:pPr>
            <a:r>
              <a:rPr sz="2400" b="1">
                <a:solidFill>
                  <a:srgbClr val="50DDAE"/>
                </a:solidFill>
                <a:latin typeface="Segoe UI"/>
              </a:rPr>
              <a:t>02</a:t>
            </a:r>
          </a:p>
        </p:txBody>
      </p:sp>
      <p:sp>
        <p:nvSpPr>
          <p:cNvPr id="10" name="No automatic approval"/>
          <p:cNvSpPr txBox="1"/>
          <p:nvPr/>
        </p:nvSpPr>
        <p:spPr>
          <a:xfrm>
            <a:off x="1325880" y="3822191"/>
            <a:ext cx="5943600" cy="411480"/>
          </a:xfrm>
          <a:prstGeom prst="rect">
            <a:avLst/>
          </a:prstGeom>
          <a:noFill/>
        </p:spPr>
        <p:txBody>
          <a:bodyPr wrap="square" lIns="0" rIns="0" tIns="0" bIns="0">
            <a:spAutoFit/>
          </a:bodyPr>
          <a:lstStyle/>
          <a:p>
            <a:pPr>
              <a:spcAft>
                <a:spcPts val="600"/>
              </a:spcAft>
            </a:pPr>
            <a:r>
              <a:rPr sz="2400" b="1">
                <a:solidFill>
                  <a:srgbClr val="F5F7F5"/>
                </a:solidFill>
                <a:latin typeface="Segoe UI"/>
              </a:rPr>
              <a:t>No automatic approval</a:t>
            </a:r>
          </a:p>
        </p:txBody>
      </p:sp>
      <p:sp>
        <p:nvSpPr>
          <p:cNvPr id="11" name="Humans accept eligible exceptions and review "/>
          <p:cNvSpPr txBox="1"/>
          <p:nvPr/>
        </p:nvSpPr>
        <p:spPr>
          <a:xfrm>
            <a:off x="1325880" y="4261104"/>
            <a:ext cx="6035040" cy="457200"/>
          </a:xfrm>
          <a:prstGeom prst="rect">
            <a:avLst/>
          </a:prstGeom>
          <a:noFill/>
        </p:spPr>
        <p:txBody>
          <a:bodyPr wrap="square" lIns="0" rIns="0" tIns="0" bIns="0">
            <a:spAutoFit/>
          </a:bodyPr>
          <a:lstStyle/>
          <a:p>
            <a:pPr>
              <a:spcAft>
                <a:spcPts val="600"/>
              </a:spcAft>
            </a:pPr>
            <a:r>
              <a:rPr sz="1600" b="0">
                <a:solidFill>
                  <a:srgbClr val="B8C8C6"/>
                </a:solidFill>
                <a:latin typeface="Segoe UI"/>
              </a:rPr>
              <a:t>Humans accept eligible exceptions and review code.</a:t>
            </a:r>
          </a:p>
        </p:txBody>
      </p:sp>
      <p:sp>
        <p:nvSpPr>
          <p:cNvPr id="12" name="03"/>
          <p:cNvSpPr txBox="1"/>
          <p:nvPr/>
        </p:nvSpPr>
        <p:spPr>
          <a:xfrm>
            <a:off x="594360" y="4764024"/>
            <a:ext cx="548640" cy="411480"/>
          </a:xfrm>
          <a:prstGeom prst="rect">
            <a:avLst/>
          </a:prstGeom>
          <a:noFill/>
        </p:spPr>
        <p:txBody>
          <a:bodyPr wrap="square" lIns="0" rIns="0" tIns="0" bIns="0">
            <a:spAutoFit/>
          </a:bodyPr>
          <a:lstStyle/>
          <a:p>
            <a:pPr>
              <a:spcAft>
                <a:spcPts val="600"/>
              </a:spcAft>
            </a:pPr>
            <a:r>
              <a:rPr sz="2400" b="1">
                <a:solidFill>
                  <a:srgbClr val="50DDAE"/>
                </a:solidFill>
                <a:latin typeface="Segoe UI"/>
              </a:rPr>
              <a:t>03</a:t>
            </a:r>
          </a:p>
        </p:txBody>
      </p:sp>
      <p:sp>
        <p:nvSpPr>
          <p:cNvPr id="13" name="No immutable canvas"/>
          <p:cNvSpPr txBox="1"/>
          <p:nvPr/>
        </p:nvSpPr>
        <p:spPr>
          <a:xfrm>
            <a:off x="1325880" y="4764024"/>
            <a:ext cx="5943600" cy="411480"/>
          </a:xfrm>
          <a:prstGeom prst="rect">
            <a:avLst/>
          </a:prstGeom>
          <a:noFill/>
        </p:spPr>
        <p:txBody>
          <a:bodyPr wrap="square" lIns="0" rIns="0" tIns="0" bIns="0">
            <a:spAutoFit/>
          </a:bodyPr>
          <a:lstStyle/>
          <a:p>
            <a:pPr>
              <a:spcAft>
                <a:spcPts val="600"/>
              </a:spcAft>
            </a:pPr>
            <a:r>
              <a:rPr sz="2400" b="1">
                <a:solidFill>
                  <a:srgbClr val="F5F7F5"/>
                </a:solidFill>
                <a:latin typeface="Segoe UI"/>
              </a:rPr>
              <a:t>No immutable canvas</a:t>
            </a:r>
          </a:p>
        </p:txBody>
      </p:sp>
      <p:sp>
        <p:nvSpPr>
          <p:cNvPr id="14" name="GitHub checks, comments, reviews and artifact"/>
          <p:cNvSpPr txBox="1"/>
          <p:nvPr/>
        </p:nvSpPr>
        <p:spPr>
          <a:xfrm>
            <a:off x="1325880" y="5202936"/>
            <a:ext cx="6035040" cy="457200"/>
          </a:xfrm>
          <a:prstGeom prst="rect">
            <a:avLst/>
          </a:prstGeom>
          <a:noFill/>
        </p:spPr>
        <p:txBody>
          <a:bodyPr wrap="square" lIns="0" rIns="0" tIns="0" bIns="0">
            <a:spAutoFit/>
          </a:bodyPr>
          <a:lstStyle/>
          <a:p>
            <a:pPr>
              <a:spcAft>
                <a:spcPts val="600"/>
              </a:spcAft>
            </a:pPr>
            <a:r>
              <a:rPr sz="1600" b="0">
                <a:solidFill>
                  <a:srgbClr val="B8C8C6"/>
                </a:solidFill>
                <a:latin typeface="Segoe UI"/>
              </a:rPr>
              <a:t>GitHub checks, comments, reviews and artifacts are authoritative.</a:t>
            </a:r>
          </a:p>
        </p:txBody>
      </p:sp>
      <p:sp>
        <p:nvSpPr>
          <p:cNvPr id="15" name="Rounded Rectangle 14"/>
          <p:cNvSpPr/>
          <p:nvPr/>
        </p:nvSpPr>
        <p:spPr>
          <a:xfrm>
            <a:off x="7955279" y="2724912"/>
            <a:ext cx="3611880" cy="3154680"/>
          </a:xfrm>
          <a:prstGeom prst="roundRect">
            <a:avLst/>
          </a:prstGeom>
          <a:solidFill>
            <a:srgbClr val="1C2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ERMISSION BOUNDARY"/>
          <p:cNvSpPr txBox="1"/>
          <p:nvPr/>
        </p:nvSpPr>
        <p:spPr>
          <a:xfrm>
            <a:off x="8183879" y="2971800"/>
            <a:ext cx="3154680" cy="320040"/>
          </a:xfrm>
          <a:prstGeom prst="rect">
            <a:avLst/>
          </a:prstGeom>
          <a:noFill/>
        </p:spPr>
        <p:txBody>
          <a:bodyPr wrap="square" lIns="0" rIns="0" tIns="0" bIns="0">
            <a:spAutoFit/>
          </a:bodyPr>
          <a:lstStyle/>
          <a:p>
            <a:pPr>
              <a:spcAft>
                <a:spcPts val="600"/>
              </a:spcAft>
            </a:pPr>
            <a:r>
              <a:rPr sz="1600" b="1">
                <a:solidFill>
                  <a:srgbClr val="FFD166"/>
                </a:solidFill>
                <a:latin typeface="Segoe UI"/>
              </a:rPr>
              <a:t>PERMISSION BOUNDARY</a:t>
            </a:r>
          </a:p>
        </p:txBody>
      </p:sp>
      <p:sp>
        <p:nvSpPr>
          <p:cNvPr id="17" name="Mutation tools?&#10;STOP."/>
          <p:cNvSpPr txBox="1"/>
          <p:nvPr/>
        </p:nvSpPr>
        <p:spPr>
          <a:xfrm>
            <a:off x="8183879" y="3593592"/>
            <a:ext cx="3154680" cy="960120"/>
          </a:xfrm>
          <a:prstGeom prst="rect">
            <a:avLst/>
          </a:prstGeom>
          <a:noFill/>
        </p:spPr>
        <p:txBody>
          <a:bodyPr wrap="square" lIns="0" rIns="0" tIns="0" bIns="0">
            <a:spAutoFit/>
          </a:bodyPr>
          <a:lstStyle/>
          <a:p>
            <a:pPr>
              <a:spcAft>
                <a:spcPts val="600"/>
              </a:spcAft>
            </a:pPr>
            <a:r>
              <a:rPr sz="3200" b="1">
                <a:solidFill>
                  <a:srgbClr val="FF7F85"/>
                </a:solidFill>
                <a:latin typeface="Segoe UI"/>
              </a:rPr>
              <a:t>Mutation tools?</a:t>
            </a:r>
          </a:p>
          <a:p>
            <a:pPr>
              <a:spcAft>
                <a:spcPts val="600"/>
              </a:spcAft>
            </a:pPr>
            <a:r>
              <a:rPr sz="3200" b="1">
                <a:solidFill>
                  <a:srgbClr val="FF7F85"/>
                </a:solidFill>
                <a:latin typeface="Segoe UI"/>
              </a:rPr>
              <a:t>STOP.</a:t>
            </a:r>
          </a:p>
        </p:txBody>
      </p:sp>
      <p:sp>
        <p:nvSpPr>
          <p:cNvPr id="18" name="Use only approved read tools.&#10;Keep a failed c"/>
          <p:cNvSpPr txBox="1"/>
          <p:nvPr/>
        </p:nvSpPr>
        <p:spPr>
          <a:xfrm>
            <a:off x="8183879" y="4754880"/>
            <a:ext cx="3154680" cy="777240"/>
          </a:xfrm>
          <a:prstGeom prst="rect">
            <a:avLst/>
          </a:prstGeom>
          <a:noFill/>
        </p:spPr>
        <p:txBody>
          <a:bodyPr wrap="square" lIns="0" rIns="0" tIns="0" bIns="0">
            <a:spAutoFit/>
          </a:bodyPr>
          <a:lstStyle/>
          <a:p>
            <a:pPr>
              <a:spcAft>
                <a:spcPts val="600"/>
              </a:spcAft>
            </a:pPr>
            <a:r>
              <a:rPr sz="1600" b="0">
                <a:solidFill>
                  <a:srgbClr val="B8C8C6"/>
                </a:solidFill>
                <a:latin typeface="Segoe UI"/>
              </a:rPr>
              <a:t>Use only approved read tools.</a:t>
            </a:r>
          </a:p>
          <a:p>
            <a:pPr>
              <a:spcAft>
                <a:spcPts val="600"/>
              </a:spcAft>
            </a:pPr>
            <a:r>
              <a:rPr sz="1600" b="0">
                <a:solidFill>
                  <a:srgbClr val="B8C8C6"/>
                </a:solidFill>
                <a:latin typeface="Segoe UI"/>
              </a:rPr>
              <a:t>Keep a failed canary disabled.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AgentProof - Recording support</dc:title>
  <dc:subject>Illustrative slides, not live scanner evidence</dc:subject>
  <dc:creator>AgentProof contributors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